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8288000" cy="10287000"/>
  <p:notesSz cx="6858000" cy="9144000"/>
  <p:embeddedFontLst>
    <p:embeddedFont>
      <p:font typeface="Cooper BT Light" panose="020B0604020202020204" charset="0"/>
      <p:regular r:id="rId16"/>
    </p:embeddedFont>
    <p:embeddedFont>
      <p:font typeface="TT Interphases" panose="020B0604020202020204" charset="0"/>
      <p:regular r:id="rId17"/>
    </p:embeddedFont>
    <p:embeddedFont>
      <p:font typeface="TT Interphase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274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66750"/>
            <a:ext cx="8324850" cy="3941499"/>
            <a:chOff x="0" y="0"/>
            <a:chExt cx="11099800" cy="5255332"/>
          </a:xfrm>
        </p:grpSpPr>
        <p:sp>
          <p:nvSpPr>
            <p:cNvPr id="6" name="TextBox 6"/>
            <p:cNvSpPr txBox="1"/>
            <p:nvPr/>
          </p:nvSpPr>
          <p:spPr>
            <a:xfrm>
              <a:off x="0" y="4737172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</a:pPr>
              <a:r>
                <a:rPr lang="en-US" sz="2399" spc="-47">
                  <a:solidFill>
                    <a:srgbClr val="55555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Exploring AI Innovations and Techniques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19075"/>
              <a:ext cx="11099800" cy="40565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499"/>
                </a:lnSpc>
              </a:pPr>
              <a:r>
                <a:rPr lang="en-US" sz="11499" spc="-229">
                  <a:solidFill>
                    <a:srgbClr val="4A90E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AI Model Project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4954379"/>
            <a:ext cx="8324850" cy="4665871"/>
            <a:chOff x="0" y="-5027306"/>
            <a:chExt cx="11099800" cy="6221160"/>
          </a:xfrm>
        </p:grpSpPr>
        <p:sp>
          <p:nvSpPr>
            <p:cNvPr id="9" name="TextBox 9"/>
            <p:cNvSpPr txBox="1"/>
            <p:nvPr/>
          </p:nvSpPr>
          <p:spPr>
            <a:xfrm>
              <a:off x="0" y="659184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 lang="en-US" sz="2400" dirty="0">
                <a:solidFill>
                  <a:srgbClr val="555555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027306"/>
              <a:ext cx="11099800" cy="11921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800" b="1" dirty="0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Mohammed </a:t>
              </a:r>
              <a:r>
                <a:rPr lang="en-US" sz="2800" b="1" dirty="0" err="1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Althagafi</a:t>
              </a:r>
              <a:r>
                <a:rPr lang="en-US" sz="2800" b="1" dirty="0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 - 443102227</a:t>
              </a:r>
            </a:p>
            <a:p>
              <a:pPr marL="0" lvl="0" indent="0" algn="l">
                <a:lnSpc>
                  <a:spcPts val="3640"/>
                </a:lnSpc>
              </a:pPr>
              <a:r>
                <a:rPr lang="en-US" sz="2800" b="1" dirty="0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Abdulrahman </a:t>
              </a:r>
              <a:r>
                <a:rPr lang="en-US" sz="2800" b="1" dirty="0" err="1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Mansuor</a:t>
              </a:r>
              <a:r>
                <a:rPr lang="en-US" sz="2800" b="1" dirty="0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 - 443106551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300024"/>
            <a:ext cx="9763125" cy="3455836"/>
            <a:chOff x="0" y="0"/>
            <a:chExt cx="13017500" cy="4607781"/>
          </a:xfrm>
        </p:grpSpPr>
        <p:sp>
          <p:nvSpPr>
            <p:cNvPr id="3" name="TextBox 3"/>
            <p:cNvSpPr txBox="1"/>
            <p:nvPr/>
          </p:nvSpPr>
          <p:spPr>
            <a:xfrm>
              <a:off x="0" y="3048221"/>
              <a:ext cx="11099800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u="none" strike="noStrike" spc="-48">
                  <a:solidFill>
                    <a:srgbClr val="55555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section outlines the </a:t>
              </a:r>
              <a:r>
                <a:rPr lang="en-US" sz="2400" b="1" u="none" strike="noStrike" spc="-48">
                  <a:solidFill>
                    <a:srgbClr val="55555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objectives and workflow</a:t>
              </a:r>
              <a:r>
                <a:rPr lang="en-US" sz="2400" u="none" strike="noStrike" spc="-48">
                  <a:solidFill>
                    <a:srgbClr val="55555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the AI model project, detailing key steps and methodologies utilized to achieve successful outcomes in model development.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0"/>
              <a:ext cx="13017500" cy="18372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99"/>
                </a:lnSpc>
                <a:spcBef>
                  <a:spcPct val="0"/>
                </a:spcBef>
              </a:pPr>
              <a:r>
                <a:rPr lang="en-US" sz="9999" u="none" strike="noStrike" spc="-199">
                  <a:solidFill>
                    <a:srgbClr val="4A90E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Introduction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5428144" y="6607510"/>
            <a:ext cx="3459016" cy="4461104"/>
          </a:xfrm>
          <a:custGeom>
            <a:avLst/>
            <a:gdLst/>
            <a:ahLst/>
            <a:cxnLst/>
            <a:rect l="l" t="t" r="r" b="b"/>
            <a:pathLst>
              <a:path w="3459016" h="4461104">
                <a:moveTo>
                  <a:pt x="0" y="0"/>
                </a:moveTo>
                <a:lnTo>
                  <a:pt x="3459015" y="0"/>
                </a:lnTo>
                <a:lnTo>
                  <a:pt x="3459015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5113020"/>
            <a:chOff x="0" y="0"/>
            <a:chExt cx="11099800" cy="6817360"/>
          </a:xfrm>
        </p:grpSpPr>
        <p:sp>
          <p:nvSpPr>
            <p:cNvPr id="3" name="TextBox 3"/>
            <p:cNvSpPr txBox="1"/>
            <p:nvPr/>
          </p:nvSpPr>
          <p:spPr>
            <a:xfrm>
              <a:off x="0" y="4737100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55555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timm library simplifies access to a vast array of pre-trained models, enabling efficient </a:t>
              </a:r>
              <a:r>
                <a:rPr lang="en-US" sz="2400" b="1" u="none" strike="noStrike" spc="-48">
                  <a:solidFill>
                    <a:srgbClr val="55555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model selection and integration</a:t>
              </a:r>
              <a:r>
                <a:rPr lang="en-US" sz="2400" u="none" strike="noStrike" spc="-48">
                  <a:solidFill>
                    <a:srgbClr val="55555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for various AI projects, enhancing both development speed and performance.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3350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4A90E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Using the timm Library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433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Leveraging Pre-trained Models for AI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E845F2E-4316-3650-B0F6-41B58A898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43100"/>
            <a:ext cx="8267700" cy="7162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3522345"/>
            <a:chOff x="0" y="0"/>
            <a:chExt cx="11099800" cy="4696460"/>
          </a:xfrm>
        </p:grpSpPr>
        <p:sp>
          <p:nvSpPr>
            <p:cNvPr id="3" name="TextBox 3"/>
            <p:cNvSpPr txBox="1"/>
            <p:nvPr/>
          </p:nvSpPr>
          <p:spPr>
            <a:xfrm>
              <a:off x="0" y="3136900"/>
              <a:ext cx="11099800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55555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Utilizing a GPU on Google Colab significantly speeds up training times and enhances model performance, allowing for quicker iterations and results, essential for deep learning projects.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17504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4A90E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GPU Utilization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431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Enabling GPU for Enhanced Performance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4C52D64-16DD-5B6F-F648-6147371CC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80435"/>
            <a:ext cx="8267700" cy="37204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2B36F-ADE6-F919-9FDD-515A7AA15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064D839-15A8-E40D-9D1D-72FD2B06A7FA}"/>
              </a:ext>
            </a:extLst>
          </p:cNvPr>
          <p:cNvGrpSpPr/>
          <p:nvPr/>
        </p:nvGrpSpPr>
        <p:grpSpPr>
          <a:xfrm>
            <a:off x="9127524" y="3352847"/>
            <a:ext cx="9104871" cy="1991000"/>
            <a:chOff x="-326768" y="-2012886"/>
            <a:chExt cx="12139828" cy="2654666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D3963A45-BCC6-1EAE-04B4-2E873C0E89C7}"/>
                </a:ext>
              </a:extLst>
            </p:cNvPr>
            <p:cNvSpPr txBox="1"/>
            <p:nvPr/>
          </p:nvSpPr>
          <p:spPr>
            <a:xfrm>
              <a:off x="-326768" y="145747"/>
              <a:ext cx="11099800" cy="496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 dirty="0">
                  <a:solidFill>
                    <a:srgbClr val="55555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Using matplotlib to display the statistical nature of the dataset.</a:t>
              </a: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6F3A9C5-DA87-EB08-1976-D141567BDC8C}"/>
                </a:ext>
              </a:extLst>
            </p:cNvPr>
            <p:cNvSpPr txBox="1"/>
            <p:nvPr/>
          </p:nvSpPr>
          <p:spPr>
            <a:xfrm>
              <a:off x="-277340" y="-2012886"/>
              <a:ext cx="12090400" cy="16243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 dirty="0">
                  <a:solidFill>
                    <a:srgbClr val="4A90E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Display Pie Chart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CACA47B-AF94-EE95-8546-D9F3664B000B}"/>
                </a:ext>
              </a:extLst>
            </p:cNvPr>
            <p:cNvSpPr txBox="1"/>
            <p:nvPr/>
          </p:nvSpPr>
          <p:spPr>
            <a:xfrm>
              <a:off x="-277340" y="-388510"/>
              <a:ext cx="11099800" cy="496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 dirty="0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Displaying Statistics in the form of a pie chart</a:t>
              </a: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4E61D8C-51B6-22B7-9D12-BD1C633C6350}"/>
              </a:ext>
            </a:extLst>
          </p:cNvPr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F624D65-A764-98E4-33B6-A92852D0D81F}"/>
                </a:ext>
              </a:extLst>
            </p:cNvPr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7D8009E-1487-F083-FC33-B5A3B8833F83}"/>
                </a:ext>
              </a:extLst>
            </p:cNvPr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84B2FFAA-D317-93CE-3209-A8A5AD7B6D29}"/>
              </a:ext>
            </a:extLst>
          </p:cNvPr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AB553C-5A60-13DB-3B5A-40A3DC8D6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536" y="2018703"/>
            <a:ext cx="8267699" cy="695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505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CDE19-8E8B-28B7-091D-140B019C3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F15E1B0-A0D8-CE46-F218-0406C4C984FC}"/>
              </a:ext>
            </a:extLst>
          </p:cNvPr>
          <p:cNvGrpSpPr/>
          <p:nvPr/>
        </p:nvGrpSpPr>
        <p:grpSpPr>
          <a:xfrm>
            <a:off x="9164595" y="3352847"/>
            <a:ext cx="9067800" cy="1590307"/>
            <a:chOff x="-277340" y="-2012886"/>
            <a:chExt cx="12090400" cy="2120409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A7C6F83-6D9C-0572-B666-3E45494DDB18}"/>
                </a:ext>
              </a:extLst>
            </p:cNvPr>
            <p:cNvSpPr txBox="1"/>
            <p:nvPr/>
          </p:nvSpPr>
          <p:spPr>
            <a:xfrm>
              <a:off x="-277340" y="-2012886"/>
              <a:ext cx="12090400" cy="16243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 dirty="0">
                  <a:solidFill>
                    <a:srgbClr val="4A90E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Display Pictures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D95C038-84F6-1F70-B21B-304A848040B8}"/>
                </a:ext>
              </a:extLst>
            </p:cNvPr>
            <p:cNvSpPr txBox="1"/>
            <p:nvPr/>
          </p:nvSpPr>
          <p:spPr>
            <a:xfrm>
              <a:off x="-277340" y="-388510"/>
              <a:ext cx="11099800" cy="496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 dirty="0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Displaying some samples from the training set</a:t>
              </a: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4A99C31-31EA-9BEB-35B7-AC5DA99DCBD3}"/>
              </a:ext>
            </a:extLst>
          </p:cNvPr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9E7CA90-D88A-9548-378B-B082BF1B87A1}"/>
                </a:ext>
              </a:extLst>
            </p:cNvPr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B2C5CEB-A6EA-D31A-4BD8-DF6366E6DD0A}"/>
                </a:ext>
              </a:extLst>
            </p:cNvPr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1F20CB3D-C489-122D-E8B7-C4C80557D766}"/>
              </a:ext>
            </a:extLst>
          </p:cNvPr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084350-DA70-DF95-E0CE-53C4D8521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86285"/>
            <a:ext cx="8327165" cy="475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236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5113020"/>
            <a:chOff x="0" y="0"/>
            <a:chExt cx="11099800" cy="6817360"/>
          </a:xfrm>
        </p:grpSpPr>
        <p:sp>
          <p:nvSpPr>
            <p:cNvPr id="3" name="TextBox 3"/>
            <p:cNvSpPr txBox="1"/>
            <p:nvPr/>
          </p:nvSpPr>
          <p:spPr>
            <a:xfrm>
              <a:off x="0" y="4737100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55555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section delves into loading the dataset, visualizing sample images, and interpreting key statistics to ensure a comprehensive understanding of the data's structure and content.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3350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4A90E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Reading the Dataset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433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Exploring and Visualizing Data Samples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8A7AF0-B8B3-F152-392C-E4DDE3F1A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7" y="245745"/>
            <a:ext cx="6312243" cy="61531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E0CA7E4-E1E4-3653-970D-B5C829F487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57" y="6399925"/>
            <a:ext cx="8255343" cy="3887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5113020"/>
            <a:chOff x="0" y="0"/>
            <a:chExt cx="11099800" cy="6817360"/>
          </a:xfrm>
        </p:grpSpPr>
        <p:sp>
          <p:nvSpPr>
            <p:cNvPr id="3" name="TextBox 3"/>
            <p:cNvSpPr txBox="1"/>
            <p:nvPr/>
          </p:nvSpPr>
          <p:spPr>
            <a:xfrm>
              <a:off x="0" y="4737100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55555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Fine-tuning a pre-trained model involves </a:t>
              </a:r>
              <a:r>
                <a:rPr lang="en-US" sz="2400" b="1" u="none" strike="noStrike" spc="-48">
                  <a:solidFill>
                    <a:srgbClr val="55555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adapting layers</a:t>
              </a:r>
              <a:r>
                <a:rPr lang="en-US" sz="2400" u="none" strike="noStrike" spc="-48">
                  <a:solidFill>
                    <a:srgbClr val="55555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to our specific dataset, leveraging transfer learning for improved performance while reducing training time. This approach enhances accuracy and efficiency in model training.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3350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4A90E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Model Fine-Tuning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433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Understanding Pre-trained Model Adjustments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2907119-60EB-2084-DB28-6F360F31E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734" y="2019300"/>
            <a:ext cx="8324850" cy="7619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5113020"/>
            <a:chOff x="0" y="0"/>
            <a:chExt cx="11099800" cy="6817360"/>
          </a:xfrm>
        </p:grpSpPr>
        <p:sp>
          <p:nvSpPr>
            <p:cNvPr id="3" name="TextBox 3"/>
            <p:cNvSpPr txBox="1"/>
            <p:nvPr/>
          </p:nvSpPr>
          <p:spPr>
            <a:xfrm>
              <a:off x="0" y="4737100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55555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 this section, we detail the </a:t>
              </a:r>
              <a:r>
                <a:rPr lang="en-US" sz="2400" b="1" u="none" strike="noStrike" spc="-48">
                  <a:solidFill>
                    <a:srgbClr val="55555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training process</a:t>
              </a:r>
              <a:r>
                <a:rPr lang="en-US" sz="2400" u="none" strike="noStrike" spc="-48">
                  <a:solidFill>
                    <a:srgbClr val="55555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our AI model. Important parameters such as epochs, optimizer selection, and loss functions are crucial for effective learning and performance evaluation.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3350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4A90E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Training the Model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433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Key Parameters and Training Loop Explained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F4C7E5A-6754-BB1D-9C93-D1B3DDDB4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" y="3731895"/>
            <a:ext cx="8260436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4722495"/>
            <a:chOff x="0" y="0"/>
            <a:chExt cx="11099800" cy="6296660"/>
          </a:xfrm>
        </p:grpSpPr>
        <p:sp>
          <p:nvSpPr>
            <p:cNvPr id="3" name="TextBox 3"/>
            <p:cNvSpPr txBox="1"/>
            <p:nvPr/>
          </p:nvSpPr>
          <p:spPr>
            <a:xfrm>
              <a:off x="0" y="4737100"/>
              <a:ext cx="11099800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55555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</a:t>
              </a:r>
              <a:r>
                <a:rPr lang="en-US" sz="2400" b="1" u="none" strike="noStrike" spc="-48">
                  <a:solidFill>
                    <a:srgbClr val="55555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testing phase</a:t>
              </a:r>
              <a:r>
                <a:rPr lang="en-US" sz="2400" u="none" strike="noStrike" spc="-48">
                  <a:solidFill>
                    <a:srgbClr val="55555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is crucial for assessing the AI model's performance. It involves running the model on unseen data to evaluate its accuracy and effectiveness in making predictions.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3350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4A90E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Testing the Model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433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Evaluating AI performance and accuracy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D2EE97-D254-E77D-A571-4B2BCF304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85418"/>
            <a:ext cx="8318233" cy="16914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5113020"/>
            <a:chOff x="0" y="0"/>
            <a:chExt cx="11099800" cy="6817360"/>
          </a:xfrm>
        </p:grpSpPr>
        <p:sp>
          <p:nvSpPr>
            <p:cNvPr id="3" name="TextBox 3"/>
            <p:cNvSpPr txBox="1"/>
            <p:nvPr/>
          </p:nvSpPr>
          <p:spPr>
            <a:xfrm>
              <a:off x="0" y="4737100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55555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confusion matrix provides </a:t>
              </a:r>
              <a:r>
                <a:rPr lang="en-US" sz="2400" b="1" u="none" strike="noStrike" spc="-48">
                  <a:solidFill>
                    <a:srgbClr val="55555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insightful analysis</a:t>
              </a:r>
              <a:r>
                <a:rPr lang="en-US" sz="2400" u="none" strike="noStrike" spc="-48">
                  <a:solidFill>
                    <a:srgbClr val="55555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the model's classifications, helping to identify strengths and weaknesses. It visually represents true positives, false positives, and other performance indicators crucial for improvements.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3350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4A90E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Confusion Matrix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433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Understanding AI Model Performance Metrics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0A2B0CF-2D6F-DD7A-D88F-F08C601B3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45914"/>
            <a:ext cx="8267700" cy="80361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5113020"/>
            <a:chOff x="0" y="0"/>
            <a:chExt cx="11099800" cy="6817360"/>
          </a:xfrm>
        </p:grpSpPr>
        <p:sp>
          <p:nvSpPr>
            <p:cNvPr id="3" name="TextBox 3"/>
            <p:cNvSpPr txBox="1"/>
            <p:nvPr/>
          </p:nvSpPr>
          <p:spPr>
            <a:xfrm>
              <a:off x="0" y="5257800"/>
              <a:ext cx="11099800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55555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Computing overall accuracy is crucial for assessing the </a:t>
              </a:r>
              <a:r>
                <a:rPr lang="en-US" sz="2400" b="1" u="none" strike="noStrike" spc="-48">
                  <a:solidFill>
                    <a:srgbClr val="55555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model's effectiveness</a:t>
              </a:r>
              <a:r>
                <a:rPr lang="en-US" sz="2400" u="none" strike="noStrike" spc="-48">
                  <a:solidFill>
                    <a:srgbClr val="55555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. It helps gauge how well the AI is performing and identifies areas for further improvement.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3350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4A90E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Overall Accuracy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43300"/>
              <a:ext cx="110998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Understanding model performance through accuracy metrics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D65BF8-46F5-1092-305F-D5CD425E5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298" y="3481388"/>
            <a:ext cx="8267699" cy="19345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5113020"/>
            <a:chOff x="0" y="0"/>
            <a:chExt cx="11099800" cy="6817360"/>
          </a:xfrm>
        </p:grpSpPr>
        <p:sp>
          <p:nvSpPr>
            <p:cNvPr id="3" name="TextBox 3"/>
            <p:cNvSpPr txBox="1"/>
            <p:nvPr/>
          </p:nvSpPr>
          <p:spPr>
            <a:xfrm>
              <a:off x="0" y="4737100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55555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Analyzing training and validation loss curves is crucial for assessing model performance, revealing insights about overfitting and the generalization ability of the AI model over time.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3350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4A90E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Displaying the Loss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433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Understanding Loss Curves in AI Models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A93F15-D7BC-C86E-6B9D-1EF572CF2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02235"/>
            <a:ext cx="8267700" cy="40973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74DC0D-8D67-C0BD-FCDF-7EE23D1914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499540"/>
            <a:ext cx="8267700" cy="47874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02596" y="0"/>
            <a:ext cx="8185404" cy="10287000"/>
            <a:chOff x="0" y="0"/>
            <a:chExt cx="215582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55827" cy="2709333"/>
            </a:xfrm>
            <a:custGeom>
              <a:avLst/>
              <a:gdLst/>
              <a:ahLst/>
              <a:cxnLst/>
              <a:rect l="l" t="t" r="r" b="b"/>
              <a:pathLst>
                <a:path w="2155827" h="2709333">
                  <a:moveTo>
                    <a:pt x="0" y="0"/>
                  </a:moveTo>
                  <a:lnTo>
                    <a:pt x="2155827" y="0"/>
                  </a:lnTo>
                  <a:lnTo>
                    <a:pt x="21558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55827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08180" y="666750"/>
            <a:ext cx="6947741" cy="8953500"/>
            <a:chOff x="0" y="0"/>
            <a:chExt cx="812800" cy="10474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047449"/>
            </a:xfrm>
            <a:custGeom>
              <a:avLst/>
              <a:gdLst/>
              <a:ahLst/>
              <a:cxnLst/>
              <a:rect l="l" t="t" r="r" b="b"/>
              <a:pathLst>
                <a:path w="812800" h="1047449">
                  <a:moveTo>
                    <a:pt x="44572" y="0"/>
                  </a:moveTo>
                  <a:lnTo>
                    <a:pt x="768228" y="0"/>
                  </a:lnTo>
                  <a:cubicBezTo>
                    <a:pt x="792844" y="0"/>
                    <a:pt x="812800" y="19956"/>
                    <a:pt x="812800" y="44572"/>
                  </a:cubicBezTo>
                  <a:lnTo>
                    <a:pt x="812800" y="1002877"/>
                  </a:lnTo>
                  <a:cubicBezTo>
                    <a:pt x="812800" y="1027493"/>
                    <a:pt x="792844" y="1047449"/>
                    <a:pt x="768228" y="1047449"/>
                  </a:cubicBezTo>
                  <a:lnTo>
                    <a:pt x="44572" y="1047449"/>
                  </a:lnTo>
                  <a:cubicBezTo>
                    <a:pt x="19956" y="1047449"/>
                    <a:pt x="0" y="1027493"/>
                    <a:pt x="0" y="1002877"/>
                  </a:cubicBezTo>
                  <a:lnTo>
                    <a:pt x="0" y="44572"/>
                  </a:lnTo>
                  <a:cubicBezTo>
                    <a:pt x="0" y="19956"/>
                    <a:pt x="19956" y="0"/>
                    <a:pt x="44572" y="0"/>
                  </a:cubicBezTo>
                  <a:close/>
                </a:path>
              </a:pathLst>
            </a:custGeom>
            <a:blipFill>
              <a:blip r:embed="rId2"/>
              <a:stretch>
                <a:fillRect t="-306" b="-30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666750" y="788194"/>
            <a:ext cx="8324850" cy="2908110"/>
            <a:chOff x="0" y="161925"/>
            <a:chExt cx="11099800" cy="3877480"/>
          </a:xfrm>
        </p:grpSpPr>
        <p:sp>
          <p:nvSpPr>
            <p:cNvPr id="8" name="TextBox 8"/>
            <p:cNvSpPr txBox="1"/>
            <p:nvPr/>
          </p:nvSpPr>
          <p:spPr>
            <a:xfrm>
              <a:off x="0" y="3543372"/>
              <a:ext cx="11099800" cy="496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endParaRPr lang="en-US" sz="2400" b="1" u="none" strike="noStrike" spc="-48" dirty="0">
                <a:solidFill>
                  <a:srgbClr val="2A2A2A"/>
                </a:solidFill>
                <a:latin typeface="TT Interphases Bold"/>
                <a:ea typeface="TT Interphases Bold"/>
                <a:cs typeface="TT Interphases Bold"/>
                <a:sym typeface="TT Interphases 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61925"/>
              <a:ext cx="11099800" cy="1453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99"/>
                </a:lnSpc>
                <a:spcBef>
                  <a:spcPct val="0"/>
                </a:spcBef>
              </a:pPr>
              <a:r>
                <a:rPr lang="en-US" sz="8499" u="none" strike="noStrike" spc="-169" dirty="0">
                  <a:solidFill>
                    <a:srgbClr val="4A90E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Conclusion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52400" y="3848100"/>
            <a:ext cx="8324850" cy="37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20"/>
              </a:lnSpc>
              <a:spcBef>
                <a:spcPct val="0"/>
              </a:spcBef>
            </a:pPr>
            <a:r>
              <a:rPr lang="en-US" sz="2400" u="none" strike="noStrike" spc="-48" dirty="0">
                <a:solidFill>
                  <a:srgbClr val="55555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Any Questions?</a:t>
            </a:r>
          </a:p>
        </p:txBody>
      </p:sp>
      <p:sp>
        <p:nvSpPr>
          <p:cNvPr id="19" name="Freeform 19"/>
          <p:cNvSpPr/>
          <p:nvPr/>
        </p:nvSpPr>
        <p:spPr>
          <a:xfrm rot="5400000" flipH="1">
            <a:off x="16106389" y="8352937"/>
            <a:ext cx="1792448" cy="1639275"/>
          </a:xfrm>
          <a:custGeom>
            <a:avLst/>
            <a:gdLst/>
            <a:ahLst/>
            <a:cxnLst/>
            <a:rect l="l" t="t" r="r" b="b"/>
            <a:pathLst>
              <a:path w="1792448" h="1639275">
                <a:moveTo>
                  <a:pt x="1792448" y="0"/>
                </a:moveTo>
                <a:lnTo>
                  <a:pt x="0" y="0"/>
                </a:lnTo>
                <a:lnTo>
                  <a:pt x="0" y="1639276"/>
                </a:lnTo>
                <a:lnTo>
                  <a:pt x="1792448" y="1639276"/>
                </a:lnTo>
                <a:lnTo>
                  <a:pt x="17924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427</Words>
  <Application>Microsoft Office PowerPoint</Application>
  <PresentationFormat>Custom</PresentationFormat>
  <Paragraphs>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TT Interphases</vt:lpstr>
      <vt:lpstr>Cooper BT Light</vt:lpstr>
      <vt:lpstr>Calibri</vt:lpstr>
      <vt:lpstr>TT Interphases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AI Model Project</dc:title>
  <dc:creator>abdullah</dc:creator>
  <dc:description>Presentation - AI Model Project</dc:description>
  <cp:lastModifiedBy>عبدالله الثقفي ID 441102582</cp:lastModifiedBy>
  <cp:revision>3</cp:revision>
  <dcterms:created xsi:type="dcterms:W3CDTF">2006-08-16T00:00:00Z</dcterms:created>
  <dcterms:modified xsi:type="dcterms:W3CDTF">2025-11-19T12:46:47Z</dcterms:modified>
  <dc:identifier>DAG5JC2ubV0</dc:identifier>
</cp:coreProperties>
</file>